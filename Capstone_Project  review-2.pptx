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75" r:id="rId7"/>
    <p:sldId id="262" r:id="rId8"/>
    <p:sldId id="269" r:id="rId9"/>
    <p:sldId id="271" r:id="rId10"/>
    <p:sldId id="272" r:id="rId11"/>
    <p:sldId id="263" r:id="rId12"/>
    <p:sldId id="273" r:id="rId13"/>
    <p:sldId id="274" r:id="rId14"/>
    <p:sldId id="266" r:id="rId15"/>
    <p:sldId id="268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F5417-AB46-443D-BD5A-7D2D773E48A6}" v="18" dt="2025-08-20T07:31:58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a br" userId="df16ad5afe305f94" providerId="LiveId" clId="{142F5417-AB46-443D-BD5A-7D2D773E48A6}"/>
    <pc:docChg chg="undo custSel addSld delSld modSld">
      <pc:chgData name="Varsha br" userId="df16ad5afe305f94" providerId="LiveId" clId="{142F5417-AB46-443D-BD5A-7D2D773E48A6}" dt="2025-08-20T10:22:05.393" v="424" actId="20577"/>
      <pc:docMkLst>
        <pc:docMk/>
      </pc:docMkLst>
      <pc:sldChg chg="modSp mod">
        <pc:chgData name="Varsha br" userId="df16ad5afe305f94" providerId="LiveId" clId="{142F5417-AB46-443D-BD5A-7D2D773E48A6}" dt="2025-08-20T10:22:05.393" v="424" actId="20577"/>
        <pc:sldMkLst>
          <pc:docMk/>
          <pc:sldMk cId="0" sldId="257"/>
        </pc:sldMkLst>
        <pc:spChg chg="mod">
          <ac:chgData name="Varsha br" userId="df16ad5afe305f94" providerId="LiveId" clId="{142F5417-AB46-443D-BD5A-7D2D773E48A6}" dt="2025-08-20T10:22:05.393" v="424" actId="20577"/>
          <ac:spMkLst>
            <pc:docMk/>
            <pc:sldMk cId="0" sldId="257"/>
            <ac:spMk id="1048588" creationId="{00000000-0000-0000-0000-000000000000}"/>
          </ac:spMkLst>
        </pc:spChg>
        <pc:spChg chg="mod">
          <ac:chgData name="Varsha br" userId="df16ad5afe305f94" providerId="LiveId" clId="{142F5417-AB46-443D-BD5A-7D2D773E48A6}" dt="2025-08-20T04:55:59.384" v="89" actId="20577"/>
          <ac:spMkLst>
            <pc:docMk/>
            <pc:sldMk cId="0" sldId="257"/>
            <ac:spMk id="1048590" creationId="{00000000-0000-0000-0000-000000000000}"/>
          </ac:spMkLst>
        </pc:spChg>
      </pc:sldChg>
      <pc:sldChg chg="modSp mod">
        <pc:chgData name="Varsha br" userId="df16ad5afe305f94" providerId="LiveId" clId="{142F5417-AB46-443D-BD5A-7D2D773E48A6}" dt="2025-08-20T05:28:59.203" v="391" actId="20577"/>
        <pc:sldMkLst>
          <pc:docMk/>
          <pc:sldMk cId="0" sldId="258"/>
        </pc:sldMkLst>
        <pc:spChg chg="mod">
          <ac:chgData name="Varsha br" userId="df16ad5afe305f94" providerId="LiveId" clId="{142F5417-AB46-443D-BD5A-7D2D773E48A6}" dt="2025-08-20T05:28:59.203" v="391" actId="20577"/>
          <ac:spMkLst>
            <pc:docMk/>
            <pc:sldMk cId="0" sldId="258"/>
            <ac:spMk id="1048599" creationId="{00000000-0000-0000-0000-000000000000}"/>
          </ac:spMkLst>
        </pc:spChg>
      </pc:sldChg>
      <pc:sldChg chg="modSp mod">
        <pc:chgData name="Varsha br" userId="df16ad5afe305f94" providerId="LiveId" clId="{142F5417-AB46-443D-BD5A-7D2D773E48A6}" dt="2025-08-20T07:31:49.208" v="420" actId="20577"/>
        <pc:sldMkLst>
          <pc:docMk/>
          <pc:sldMk cId="0" sldId="259"/>
        </pc:sldMkLst>
        <pc:spChg chg="mod">
          <ac:chgData name="Varsha br" userId="df16ad5afe305f94" providerId="LiveId" clId="{142F5417-AB46-443D-BD5A-7D2D773E48A6}" dt="2025-08-20T07:31:49.208" v="420" actId="20577"/>
          <ac:spMkLst>
            <pc:docMk/>
            <pc:sldMk cId="0" sldId="259"/>
            <ac:spMk id="1048603" creationId="{00000000-0000-0000-0000-000000000000}"/>
          </ac:spMkLst>
        </pc:spChg>
      </pc:sldChg>
      <pc:sldChg chg="modSp mod">
        <pc:chgData name="Varsha br" userId="df16ad5afe305f94" providerId="LiveId" clId="{142F5417-AB46-443D-BD5A-7D2D773E48A6}" dt="2025-08-20T05:29:25.837" v="394" actId="20577"/>
        <pc:sldMkLst>
          <pc:docMk/>
          <pc:sldMk cId="0" sldId="262"/>
        </pc:sldMkLst>
        <pc:spChg chg="mod">
          <ac:chgData name="Varsha br" userId="df16ad5afe305f94" providerId="LiveId" clId="{142F5417-AB46-443D-BD5A-7D2D773E48A6}" dt="2025-08-20T05:29:25.837" v="394" actId="20577"/>
          <ac:spMkLst>
            <pc:docMk/>
            <pc:sldMk cId="0" sldId="262"/>
            <ac:spMk id="1048615" creationId="{00000000-0000-0000-0000-000000000000}"/>
          </ac:spMkLst>
        </pc:spChg>
      </pc:sldChg>
      <pc:sldChg chg="modSp mod">
        <pc:chgData name="Varsha br" userId="df16ad5afe305f94" providerId="LiveId" clId="{142F5417-AB46-443D-BD5A-7D2D773E48A6}" dt="2025-08-20T05:19:06.438" v="372"/>
        <pc:sldMkLst>
          <pc:docMk/>
          <pc:sldMk cId="0" sldId="263"/>
        </pc:sldMkLst>
        <pc:spChg chg="mod">
          <ac:chgData name="Varsha br" userId="df16ad5afe305f94" providerId="LiveId" clId="{142F5417-AB46-443D-BD5A-7D2D773E48A6}" dt="2025-08-20T05:19:06.438" v="372"/>
          <ac:spMkLst>
            <pc:docMk/>
            <pc:sldMk cId="0" sldId="263"/>
            <ac:spMk id="1048619" creationId="{00000000-0000-0000-0000-000000000000}"/>
          </ac:spMkLst>
        </pc:spChg>
      </pc:sldChg>
      <pc:sldChg chg="modSp mod">
        <pc:chgData name="Varsha br" userId="df16ad5afe305f94" providerId="LiveId" clId="{142F5417-AB46-443D-BD5A-7D2D773E48A6}" dt="2025-08-20T05:31:07.835" v="395" actId="20577"/>
        <pc:sldMkLst>
          <pc:docMk/>
          <pc:sldMk cId="4262382583" sldId="269"/>
        </pc:sldMkLst>
        <pc:spChg chg="mod">
          <ac:chgData name="Varsha br" userId="df16ad5afe305f94" providerId="LiveId" clId="{142F5417-AB46-443D-BD5A-7D2D773E48A6}" dt="2025-08-20T05:31:07.835" v="395" actId="20577"/>
          <ac:spMkLst>
            <pc:docMk/>
            <pc:sldMk cId="4262382583" sldId="269"/>
            <ac:spMk id="3" creationId="{D93A8E73-2502-5DFF-7BB4-C9DB2AD9CC94}"/>
          </ac:spMkLst>
        </pc:spChg>
      </pc:sldChg>
      <pc:sldChg chg="modSp del mod">
        <pc:chgData name="Varsha br" userId="df16ad5afe305f94" providerId="LiveId" clId="{142F5417-AB46-443D-BD5A-7D2D773E48A6}" dt="2025-08-20T07:31:41.243" v="419" actId="2696"/>
        <pc:sldMkLst>
          <pc:docMk/>
          <pc:sldMk cId="290296678" sldId="270"/>
        </pc:sldMkLst>
        <pc:spChg chg="mod">
          <ac:chgData name="Varsha br" userId="df16ad5afe305f94" providerId="LiveId" clId="{142F5417-AB46-443D-BD5A-7D2D773E48A6}" dt="2025-08-20T05:31:14.362" v="396" actId="20577"/>
          <ac:spMkLst>
            <pc:docMk/>
            <pc:sldMk cId="290296678" sldId="270"/>
            <ac:spMk id="2" creationId="{23629C14-0850-3411-C2ED-BA30ACDEA794}"/>
          </ac:spMkLst>
        </pc:spChg>
        <pc:spChg chg="mod">
          <ac:chgData name="Varsha br" userId="df16ad5afe305f94" providerId="LiveId" clId="{142F5417-AB46-443D-BD5A-7D2D773E48A6}" dt="2025-08-20T05:31:30.217" v="399" actId="20577"/>
          <ac:spMkLst>
            <pc:docMk/>
            <pc:sldMk cId="290296678" sldId="270"/>
            <ac:spMk id="3" creationId="{C2132831-917F-6B52-F58F-E8B478B139D8}"/>
          </ac:spMkLst>
        </pc:spChg>
      </pc:sldChg>
      <pc:sldChg chg="modSp mod">
        <pc:chgData name="Varsha br" userId="df16ad5afe305f94" providerId="LiveId" clId="{142F5417-AB46-443D-BD5A-7D2D773E48A6}" dt="2025-08-20T05:07:17.397" v="370" actId="113"/>
        <pc:sldMkLst>
          <pc:docMk/>
          <pc:sldMk cId="3788213334" sldId="272"/>
        </pc:sldMkLst>
        <pc:spChg chg="mod">
          <ac:chgData name="Varsha br" userId="df16ad5afe305f94" providerId="LiveId" clId="{142F5417-AB46-443D-BD5A-7D2D773E48A6}" dt="2025-08-20T05:07:17.397" v="370" actId="113"/>
          <ac:spMkLst>
            <pc:docMk/>
            <pc:sldMk cId="3788213334" sldId="272"/>
            <ac:spMk id="3" creationId="{FBF5515D-4384-3B5C-0315-5799018E13AE}"/>
          </ac:spMkLst>
        </pc:spChg>
      </pc:sldChg>
      <pc:sldChg chg="addSp delSp modSp new mod">
        <pc:chgData name="Varsha br" userId="df16ad5afe305f94" providerId="LiveId" clId="{142F5417-AB46-443D-BD5A-7D2D773E48A6}" dt="2025-08-20T05:28:04.364" v="390" actId="14100"/>
        <pc:sldMkLst>
          <pc:docMk/>
          <pc:sldMk cId="122951658" sldId="274"/>
        </pc:sldMkLst>
        <pc:spChg chg="mod">
          <ac:chgData name="Varsha br" userId="df16ad5afe305f94" providerId="LiveId" clId="{142F5417-AB46-443D-BD5A-7D2D773E48A6}" dt="2025-08-20T04:58:15.378" v="92"/>
          <ac:spMkLst>
            <pc:docMk/>
            <pc:sldMk cId="122951658" sldId="274"/>
            <ac:spMk id="2" creationId="{8A733FA8-8482-C4CD-5C94-319DA068FCA8}"/>
          </ac:spMkLst>
        </pc:spChg>
        <pc:spChg chg="del">
          <ac:chgData name="Varsha br" userId="df16ad5afe305f94" providerId="LiveId" clId="{142F5417-AB46-443D-BD5A-7D2D773E48A6}" dt="2025-08-20T05:24:02.511" v="376"/>
          <ac:spMkLst>
            <pc:docMk/>
            <pc:sldMk cId="122951658" sldId="274"/>
            <ac:spMk id="3" creationId="{35F0573F-A0F2-D8A2-9996-37F2AE169ED3}"/>
          </ac:spMkLst>
        </pc:spChg>
        <pc:spChg chg="add del mod">
          <ac:chgData name="Varsha br" userId="df16ad5afe305f94" providerId="LiveId" clId="{142F5417-AB46-443D-BD5A-7D2D773E48A6}" dt="2025-08-20T05:25:40.911" v="385"/>
          <ac:spMkLst>
            <pc:docMk/>
            <pc:sldMk cId="122951658" sldId="274"/>
            <ac:spMk id="6" creationId="{BA25F9A0-532C-7CD5-B1B6-88EDCB15794B}"/>
          </ac:spMkLst>
        </pc:spChg>
        <pc:spChg chg="add mod">
          <ac:chgData name="Varsha br" userId="df16ad5afe305f94" providerId="LiveId" clId="{142F5417-AB46-443D-BD5A-7D2D773E48A6}" dt="2025-08-20T05:25:40.911" v="385"/>
          <ac:spMkLst>
            <pc:docMk/>
            <pc:sldMk cId="122951658" sldId="274"/>
            <ac:spMk id="7" creationId="{974E5FF8-78C1-DEC6-5F8F-EC1E1D01C63D}"/>
          </ac:spMkLst>
        </pc:spChg>
        <pc:picChg chg="add del mod">
          <ac:chgData name="Varsha br" userId="df16ad5afe305f94" providerId="LiveId" clId="{142F5417-AB46-443D-BD5A-7D2D773E48A6}" dt="2025-08-20T05:23:43.864" v="373" actId="21"/>
          <ac:picMkLst>
            <pc:docMk/>
            <pc:sldMk cId="122951658" sldId="274"/>
            <ac:picMk id="4" creationId="{2A1F4A49-D07E-C31F-A379-3B2E26ED11DD}"/>
          </ac:picMkLst>
        </pc:picChg>
        <pc:picChg chg="add del mod">
          <ac:chgData name="Varsha br" userId="df16ad5afe305f94" providerId="LiveId" clId="{142F5417-AB46-443D-BD5A-7D2D773E48A6}" dt="2025-08-20T05:23:49.548" v="375" actId="21"/>
          <ac:picMkLst>
            <pc:docMk/>
            <pc:sldMk cId="122951658" sldId="274"/>
            <ac:picMk id="5" creationId="{2A1F4A49-D07E-C31F-A379-3B2E26ED11DD}"/>
          </ac:picMkLst>
        </pc:picChg>
        <pc:picChg chg="add mod">
          <ac:chgData name="Varsha br" userId="df16ad5afe305f94" providerId="LiveId" clId="{142F5417-AB46-443D-BD5A-7D2D773E48A6}" dt="2025-08-20T05:28:04.364" v="390" actId="14100"/>
          <ac:picMkLst>
            <pc:docMk/>
            <pc:sldMk cId="122951658" sldId="274"/>
            <ac:picMk id="9" creationId="{141A4642-1E70-8C17-2620-3FBD3B7D40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85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592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01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5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9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3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3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5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583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4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95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6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7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5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2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63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64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5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8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69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0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1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2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3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4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8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9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2097154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6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7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68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8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4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4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2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53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4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1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42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3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4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7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4858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3145728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9715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4.13512?utm_source=chatgpt.com" TargetMode="External"/><Relationship Id="rId2" Type="http://schemas.openxmlformats.org/officeDocument/2006/relationships/hyperlink" Target="https://www.ijirset.com/volume-11-issue-7.html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jcrt.org/papers/IJCRT2505641.pdf?utm_source=chatgpt.com" TargetMode="External"/><Relationship Id="rId4" Type="http://schemas.openxmlformats.org/officeDocument/2006/relationships/hyperlink" Target="https://www.ijirset.com/volume-13-issue-3.html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ijer.org/JNRID/papers/JNRID2411012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Blockchain-Based Land Registration System</a:t>
            </a:r>
          </a:p>
        </p:txBody>
      </p:sp>
      <p:sp>
        <p:nvSpPr>
          <p:cNvPr id="1048587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US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20221CBC(</a:t>
            </a:r>
            <a:r>
              <a:rPr lang="en-IN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CBC_3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1048588" name="Google Shape;90;p13"/>
          <p:cNvSpPr txBox="1"/>
          <p:nvPr/>
        </p:nvSpPr>
        <p:spPr>
          <a:xfrm>
            <a:off x="6353818" y="250889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r>
              <a:rPr lang="en-IN" sz="1800" dirty="0"/>
              <a:t> Dr. Akshatha Y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600" dirty="0"/>
              <a:t>Dr. Akshatha Y</a:t>
            </a:r>
            <a:endParaRPr lang="en-US" alt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4194304" name="Google Shape;89;p13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8589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1048590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Pravinthraja S</a:t>
            </a:r>
            <a:endParaRPr lang="en-US" sz="18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H M Manjula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,Dr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4194305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2444286"/>
              </p:ext>
            </p:extLst>
          </p:nvPr>
        </p:nvGraphicFramePr>
        <p:xfrm>
          <a:off x="999490" y="2802890"/>
          <a:ext cx="3431540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17365D"/>
                          </a:solidFill>
                          <a:sym typeface="+mn-ea"/>
                        </a:rPr>
                        <a:t>Roll Number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17365D"/>
                          </a:solidFill>
                          <a:sym typeface="+mn-ea"/>
                        </a:rPr>
                        <a:t>Student Name</a:t>
                      </a:r>
                      <a:endParaRPr sz="14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20221CBC0005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Varsha BR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20221CBC0048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Sandya KJ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20221CBC0051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C.Lokesh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PSCS_4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99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Organization::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  :</a:t>
            </a: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Description:Current land registration systems are prone to fraud, delays, and lack of transparency.Manual record-keeping leads to disputes and high verification time. Need for a tamper-proof, transparent, and efficient solution.</a:t>
            </a:r>
            <a:endParaRPr lang="en-US" alt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03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30301"/>
            <a:ext cx="10668000" cy="426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Challenges &amp; Solution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5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5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 (continuation)..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0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86080" y="830580"/>
            <a:ext cx="10937875" cy="455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:</a:t>
            </a:r>
            <a:r>
              <a:rPr lang="en-US" sz="3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Current land registration systems are prone to fraud, delays, and lack of transparency. Manual record-keeping leads to disputes and high verification time.Need for a tamper-proof, transparent, and efficient solution.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3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solution is needed to:</a:t>
            </a:r>
          </a:p>
          <a:p>
            <a:pPr marL="323850" indent="-171450" algn="just">
              <a:lnSpc>
                <a:spcPct val="200000"/>
              </a:lnSpc>
              <a:spcBef>
                <a:spcPts val="0"/>
              </a:spcBef>
            </a:pPr>
            <a:r>
              <a:rPr lang="en-IN" sz="33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Blockchain-Based Land Registry </a:t>
            </a:r>
          </a:p>
          <a:p>
            <a:pPr marL="323850" indent="-171450" algn="just">
              <a:lnSpc>
                <a:spcPct val="200000"/>
              </a:lnSpc>
              <a:spcBef>
                <a:spcPts val="0"/>
              </a:spcBef>
            </a:pPr>
            <a:r>
              <a:rPr lang="en-IN" sz="33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Smart Contracts for Transactions </a:t>
            </a:r>
          </a:p>
          <a:p>
            <a:pPr marL="323850" indent="-171450" algn="just">
              <a:lnSpc>
                <a:spcPct val="200000"/>
              </a:lnSpc>
              <a:spcBef>
                <a:spcPts val="0"/>
              </a:spcBef>
            </a:pPr>
            <a:r>
              <a:rPr lang="en-IN" sz="33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Decentralized Access &amp; Transparency</a:t>
            </a:r>
            <a:endParaRPr lang="en-US" altLang="en-US" sz="33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AE7B76-6270-6608-932C-714E88C6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2A8B00-B575-9928-7B14-051C9B029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170718"/>
              </p:ext>
            </p:extLst>
          </p:nvPr>
        </p:nvGraphicFramePr>
        <p:xfrm>
          <a:off x="737419" y="993057"/>
          <a:ext cx="10743382" cy="4748981"/>
        </p:xfrm>
        <a:graphic>
          <a:graphicData uri="http://schemas.openxmlformats.org/drawingml/2006/table">
            <a:tbl>
              <a:tblPr/>
              <a:tblGrid>
                <a:gridCol w="3561464">
                  <a:extLst>
                    <a:ext uri="{9D8B030D-6E8A-4147-A177-3AD203B41FA5}">
                      <a16:colId xmlns:a16="http://schemas.microsoft.com/office/drawing/2014/main" val="1490002907"/>
                    </a:ext>
                  </a:extLst>
                </a:gridCol>
                <a:gridCol w="3590959">
                  <a:extLst>
                    <a:ext uri="{9D8B030D-6E8A-4147-A177-3AD203B41FA5}">
                      <a16:colId xmlns:a16="http://schemas.microsoft.com/office/drawing/2014/main" val="1508611398"/>
                    </a:ext>
                  </a:extLst>
                </a:gridCol>
                <a:gridCol w="3590959">
                  <a:extLst>
                    <a:ext uri="{9D8B030D-6E8A-4147-A177-3AD203B41FA5}">
                      <a16:colId xmlns:a16="http://schemas.microsoft.com/office/drawing/2014/main" val="1875085931"/>
                    </a:ext>
                  </a:extLst>
                </a:gridCol>
              </a:tblGrid>
              <a:tr h="461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Objective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Research Gap (till 2025)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Our Feature (Proposed Solution)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630922"/>
                  </a:ext>
                </a:extLst>
              </a:tr>
              <a:tr h="1429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1. Legally Enforceable &amp; Verifiable Land Transfers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Most studies proved blockchain feasibility but lacked legal enforceability and mechanisms for court-ordered reversals.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Smart contracts with </a:t>
                      </a:r>
                      <a:r>
                        <a:rPr lang="en-US" b="1"/>
                        <a:t>CourtOrder module</a:t>
                      </a:r>
                      <a:r>
                        <a:rPr lang="en-US"/>
                        <a:t> allowing authorized legal officers to pause, override, or amend records with audit trails.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505339"/>
                  </a:ext>
                </a:extLst>
              </a:tr>
              <a:tr h="1429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2. Trusted Boundaries &amp; Role-Based Access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Previous works assumed survey data correctness but lacked a system for authenticating boundaries and verifying official roles (e.g., surveyors).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Verifiable Credentials (VCs)</a:t>
                      </a:r>
                      <a:r>
                        <a:rPr lang="en-US"/>
                        <a:t> for all officials; </a:t>
                      </a:r>
                      <a:r>
                        <a:rPr lang="en-US" b="1"/>
                        <a:t>hash-based proofs</a:t>
                      </a:r>
                      <a:r>
                        <a:rPr lang="en-US"/>
                        <a:t> for cadastral maps/drone-survey files before land transfer.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220888"/>
                  </a:ext>
                </a:extLst>
              </a:tr>
              <a:tr h="1429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3. Privacy, Interoperability &amp; Citizen-Centric Design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Most prototypes ignored privacy issues and integration with tax, banking, or court systems; citizen-friendly UIs were largely absent.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Selective disclosure proofs</a:t>
                      </a:r>
                      <a:r>
                        <a:rPr lang="en-US" dirty="0"/>
                        <a:t> for data privacy, </a:t>
                      </a:r>
                      <a:r>
                        <a:rPr lang="en-US" b="1" dirty="0"/>
                        <a:t>adapters for e-stamp/tax/GIS</a:t>
                      </a:r>
                      <a:r>
                        <a:rPr lang="en-US" dirty="0"/>
                        <a:t>, and </a:t>
                      </a:r>
                      <a:r>
                        <a:rPr lang="en-US" b="1" dirty="0"/>
                        <a:t>progressive web app</a:t>
                      </a:r>
                      <a:r>
                        <a:rPr lang="en-US" dirty="0"/>
                        <a:t> with offline/SMS support.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7051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8DA10-682F-1FED-4B25-555D5D653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Blockchain-Based Land Registration Research (2022–2025)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B9877F-5A35-7297-2776-A72D24683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60719"/>
              </p:ext>
            </p:extLst>
          </p:nvPr>
        </p:nvGraphicFramePr>
        <p:xfrm>
          <a:off x="334297" y="963561"/>
          <a:ext cx="11146506" cy="5230762"/>
        </p:xfrm>
        <a:graphic>
          <a:graphicData uri="http://schemas.openxmlformats.org/drawingml/2006/table">
            <a:tbl>
              <a:tblPr/>
              <a:tblGrid>
                <a:gridCol w="1857751">
                  <a:extLst>
                    <a:ext uri="{9D8B030D-6E8A-4147-A177-3AD203B41FA5}">
                      <a16:colId xmlns:a16="http://schemas.microsoft.com/office/drawing/2014/main" val="360992790"/>
                    </a:ext>
                  </a:extLst>
                </a:gridCol>
                <a:gridCol w="1857751">
                  <a:extLst>
                    <a:ext uri="{9D8B030D-6E8A-4147-A177-3AD203B41FA5}">
                      <a16:colId xmlns:a16="http://schemas.microsoft.com/office/drawing/2014/main" val="2079734444"/>
                    </a:ext>
                  </a:extLst>
                </a:gridCol>
                <a:gridCol w="1869220">
                  <a:extLst>
                    <a:ext uri="{9D8B030D-6E8A-4147-A177-3AD203B41FA5}">
                      <a16:colId xmlns:a16="http://schemas.microsoft.com/office/drawing/2014/main" val="2568872948"/>
                    </a:ext>
                  </a:extLst>
                </a:gridCol>
                <a:gridCol w="1846282">
                  <a:extLst>
                    <a:ext uri="{9D8B030D-6E8A-4147-A177-3AD203B41FA5}">
                      <a16:colId xmlns:a16="http://schemas.microsoft.com/office/drawing/2014/main" val="1757191964"/>
                    </a:ext>
                  </a:extLst>
                </a:gridCol>
                <a:gridCol w="1857751">
                  <a:extLst>
                    <a:ext uri="{9D8B030D-6E8A-4147-A177-3AD203B41FA5}">
                      <a16:colId xmlns:a16="http://schemas.microsoft.com/office/drawing/2014/main" val="1510638447"/>
                    </a:ext>
                  </a:extLst>
                </a:gridCol>
                <a:gridCol w="1857751">
                  <a:extLst>
                    <a:ext uri="{9D8B030D-6E8A-4147-A177-3AD203B41FA5}">
                      <a16:colId xmlns:a16="http://schemas.microsoft.com/office/drawing/2014/main" val="1340905873"/>
                    </a:ext>
                  </a:extLst>
                </a:gridCol>
              </a:tblGrid>
              <a:tr h="423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Model / Approach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Year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Author(s) / Founder(s)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Publication / Source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Merits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Demerits / Gaps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004317"/>
                  </a:ext>
                </a:extLst>
              </a:tr>
              <a:tr h="1115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Securing Land Registration using Blockchain</a:t>
                      </a:r>
                      <a:endParaRPr lang="en-US" sz="1000" dirty="0"/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2022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Vaibhav Lagad, Shriyash Parandkar, Mahesh Raut, Akash Sarade, Shilpa Pimpalkar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IJIRSET, Vol 11 Issue 7 (2022) (</a:t>
                      </a:r>
                      <a:r>
                        <a:rPr lang="en-IN" sz="1000">
                          <a:hlinkClick r:id="rId2" tooltip="Low Processing Fee Journal in Engineering : Impact Factor"/>
                        </a:rPr>
                        <a:t>IJIRSET</a:t>
                      </a:r>
                      <a:r>
                        <a:rPr lang="en-IN" sz="1000"/>
                        <a:t>)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Introduces basic blockchain concept for land registry; initiates security discussion in academic context.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Limited to conceptual scope; lacks implementation detail and legal integration.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007636"/>
                  </a:ext>
                </a:extLst>
              </a:tr>
              <a:tr h="1288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A Secure Land Record Management System using Blockchain</a:t>
                      </a:r>
                      <a:endParaRPr lang="en-US" sz="1000"/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2023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Md. Samir Shahariar, Pranta Banik, Md. Ahsan Habib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arXiv (2023) (</a:t>
                      </a:r>
                      <a:r>
                        <a:rPr lang="en-IN" sz="1000">
                          <a:hlinkClick r:id="rId3" tooltip="A Secure Land Record Management System using Blockchain Technology"/>
                        </a:rPr>
                        <a:t>arXiv</a:t>
                      </a:r>
                      <a:r>
                        <a:rPr lang="en-IN" sz="1000"/>
                        <a:t>)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Adds privacy using asymmetric cryptography, digitizes paper-based records, speeds ownership changes by ~33%.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Prototype-level; lacks real-world deployment and infrastructure integration.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638664"/>
                  </a:ext>
                </a:extLst>
              </a:tr>
              <a:tr h="1288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Land Registration System Using Blockchain</a:t>
                      </a:r>
                      <a:endParaRPr lang="en-IN" sz="1000"/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2024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Anujit Nair, Hiten Patel, Vivek Parmar, Shubham Agrawal, Prof. Brijesh Vala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IJIRSET, Vol 13 Issue 3 (March 2024) (</a:t>
                      </a:r>
                      <a:r>
                        <a:rPr lang="en-US" sz="1000">
                          <a:hlinkClick r:id="rId4" tooltip="Low Processing Fee Journal in Engineering : Impact Factor"/>
                        </a:rPr>
                        <a:t>IJIRSET</a:t>
                      </a:r>
                      <a:r>
                        <a:rPr lang="en-US" sz="1000"/>
                        <a:t>)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Permissioned blockchain, smart contracts, digital identity, UI—enhances transparency and automation.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Testnet-only (Ganache); lacks scalability tests and government interoperability.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175516"/>
                  </a:ext>
                </a:extLst>
              </a:tr>
              <a:tr h="1115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Blockchain-Based Land Registry</a:t>
                      </a:r>
                      <a:endParaRPr lang="en-IN" sz="1000"/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2025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000"/>
                        <a:t>Shubham Mishra, Hrithik Kumar, Priya Sharma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IJCRT, Vol 13 Issue 5 (May 2025) (</a:t>
                      </a:r>
                      <a:r>
                        <a:rPr lang="en-US" sz="1000">
                          <a:hlinkClick r:id="rId5" tooltip="Blockchain Based Land Registry"/>
                        </a:rPr>
                        <a:t>IJCRT</a:t>
                      </a:r>
                      <a:r>
                        <a:rPr lang="en-US" sz="1000"/>
                        <a:t>)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Comprehensive review: emphasizes transparency, smart contract automation, fraud reduction, building trust.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Highlights legal ambiguity, privacy issues, and scalability concerns; no implementation case study.</a:t>
                      </a:r>
                    </a:p>
                  </a:txBody>
                  <a:tcPr marL="68161" marR="68161" marT="34080" marB="340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776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327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1048615" name="Text Placeholder 2"/>
          <p:cNvSpPr>
            <a:spLocks noGrp="1"/>
          </p:cNvSpPr>
          <p:nvPr>
            <p:ph type="body" idx="1"/>
          </p:nvPr>
        </p:nvSpPr>
        <p:spPr>
          <a:xfrm>
            <a:off x="581025" y="1168400"/>
            <a:ext cx="10899775" cy="4622800"/>
          </a:xfrm>
        </p:spPr>
        <p:txBody>
          <a:bodyPr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alt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Frontend: HTML, CSS, JavaScript (React/Angular optional)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alt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alt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Backend: Node.js / Express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alt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alt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Blockchain: Ethereum (Test net / Private Network)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alt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alt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Database: IPFS + Mongo DBSmart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alt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alt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 Contracts: Solidity.</a:t>
            </a:r>
            <a:endParaRPr lang="en-US" alt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7B97-9DFE-F7C8-B5CD-A7634411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Software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A8E73-2502-5DFF-7BB4-C9DB2AD9C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Windows / Linux / MacOS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Browser: Chrome / Firefox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&amp; NPM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Ganache / Truffle for blockchain development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MetaMask extension</a:t>
            </a:r>
          </a:p>
        </p:txBody>
      </p:sp>
    </p:spTree>
    <p:extLst>
      <p:ext uri="{BB962C8B-B14F-4D97-AF65-F5344CB8AC3E}">
        <p14:creationId xmlns:p14="http://schemas.microsoft.com/office/powerpoint/2010/main" val="4262382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BC9B-CFDA-1BA3-B4BC-8C70C8B8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F89CC-E464-CDFB-AC3F-C67A1B585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High security &amp; transparency.</a:t>
            </a:r>
          </a:p>
          <a:p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Reduced fraud &amp; paperwork.</a:t>
            </a:r>
          </a:p>
          <a:p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Immutable transaction history.</a:t>
            </a:r>
          </a:p>
          <a:p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24/7 accessibility from anywhere.</a:t>
            </a:r>
            <a:endParaRPr lang="en-IN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05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0D46-5267-4672-71F6-C280E715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Challenges &amp;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5515D-4384-3B5C-0315-5799018E1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Challenge</a:t>
            </a:r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                            </a:t>
            </a:r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Solution</a:t>
            </a:r>
          </a:p>
          <a:p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High gas fees 	            Use private blockchain or Layer-2 solutions</a:t>
            </a:r>
          </a:p>
          <a:p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User adoption	             Provide training and easy-to-use UI</a:t>
            </a:r>
          </a:p>
          <a:p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Large file                         Store only file hashes on blockchain and </a:t>
            </a:r>
          </a:p>
          <a:p>
            <a:pPr marL="76200" indent="0">
              <a:buNone/>
            </a:pP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Storage                                                   actual files in IPFS </a:t>
            </a:r>
          </a:p>
          <a:p>
            <a:pPr marL="76200" indent="0">
              <a:buNone/>
            </a:pP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21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048617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8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9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495300" indent="-342900" algn="just">
              <a:spcBef>
                <a:spcPts val="0"/>
              </a:spcBef>
              <a:buSzPct val="100000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https://github.com/Sandyakj48/Capstone_PSCS_611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FB88E-7453-DC9F-5EED-DD5D75C7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Conclusion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610C8-944A-8A2B-A93C-2B0236E86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Can integrate with government databases for real-world adoption.</a:t>
            </a:r>
          </a:p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Potential to expand into multi-country land management systems.</a:t>
            </a:r>
          </a:p>
          <a:p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Future integration with AI for fraud detection.</a:t>
            </a:r>
            <a:endParaRPr lang="en-IN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258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33FA8-8482-C4CD-5C94-319DA068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</a:t>
            </a:r>
            <a:endParaRPr lang="en-IN" dirty="0"/>
          </a:p>
        </p:txBody>
      </p:sp>
      <p:sp>
        <p:nvSpPr>
          <p:cNvPr id="6" name="AutoShape 2" descr="Output image">
            <a:extLst>
              <a:ext uri="{FF2B5EF4-FFF2-40B4-BE49-F238E27FC236}">
                <a16:creationId xmlns:a16="http://schemas.microsoft.com/office/drawing/2014/main" id="{BA25F9A0-532C-7CD5-B1B6-88EDCB15794B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9" name="Picture 8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141A4642-1E70-8C17-2620-3FBD3B7D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12109"/>
            <a:ext cx="10830559" cy="503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1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49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31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</a:pPr>
            <a:r>
              <a:rPr lang="en-IN" dirty="0">
                <a:hlinkClick r:id="rId3"/>
              </a:rPr>
              <a:t>https://tijer.org/JNRID/papers/JNRID2411012.pdf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</a:pPr>
            <a:r>
              <a:rPr lang="en-IN" dirty="0"/>
              <a:t>https://link.springer.com/article/10.1007/s11540-024-09716-1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</a:pPr>
            <a:r>
              <a:rPr lang="en-IN" dirty="0"/>
              <a:t>https://watercalculator.org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70*77"/>
  <p:tag name="TABLE_ENDDRAG_RECT" val="78*220*270*77"/>
</p:tagLst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896</Words>
  <Application>Microsoft Office PowerPoint</Application>
  <PresentationFormat>Widescreen</PresentationFormat>
  <Paragraphs>147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Cambria</vt:lpstr>
      <vt:lpstr>Times New Roman</vt:lpstr>
      <vt:lpstr>Verdana</vt:lpstr>
      <vt:lpstr>Wingdings</vt:lpstr>
      <vt:lpstr>Bioinformatics</vt:lpstr>
      <vt:lpstr>Blockchain-Based Land Registration System</vt:lpstr>
      <vt:lpstr>Problem Statement Number: PSCS_4</vt:lpstr>
      <vt:lpstr>Content</vt:lpstr>
      <vt:lpstr>Content (continuation)..</vt:lpstr>
      <vt:lpstr>Objectives</vt:lpstr>
      <vt:lpstr>Blockchain-Based Land Registration Research (2022–2025)</vt:lpstr>
      <vt:lpstr>System Architecture</vt:lpstr>
      <vt:lpstr> Software Requirements</vt:lpstr>
      <vt:lpstr> Advantages</vt:lpstr>
      <vt:lpstr> Challenges &amp; Solutions</vt:lpstr>
      <vt:lpstr>Github Link</vt:lpstr>
      <vt:lpstr> Conclusion &amp; Future Scope</vt:lpstr>
      <vt:lpstr>Timeline of the Project 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PSCS_4_Use of Digital Technology to calculate water footprints  for different daily use items.</dc:title>
  <dc:creator>Admin</dc:creator>
  <cp:lastModifiedBy>Sandya KJ</cp:lastModifiedBy>
  <cp:revision>13</cp:revision>
  <dcterms:created xsi:type="dcterms:W3CDTF">2025-08-12T07:29:00Z</dcterms:created>
  <dcterms:modified xsi:type="dcterms:W3CDTF">2025-09-26T03:10:12Z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6CAFFFC2E1F94C69A08021CFDD40ECF7_13</vt:lpwstr>
  </property>
  <property fmtid="{D5CDD505-2E9C-101B-9397-08002B2CF9AE}" pid="3" name="KSOProductBuildVer">
    <vt:lpwstr>1033-12.2.0.21931</vt:lpwstr>
  </property>
</Properties>
</file>