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75" r:id="rId7"/>
    <p:sldId id="276" r:id="rId8"/>
    <p:sldId id="262" r:id="rId9"/>
    <p:sldId id="269" r:id="rId10"/>
    <p:sldId id="279" r:id="rId11"/>
    <p:sldId id="271" r:id="rId12"/>
    <p:sldId id="272" r:id="rId13"/>
    <p:sldId id="277" r:id="rId14"/>
    <p:sldId id="263" r:id="rId15"/>
    <p:sldId id="273" r:id="rId16"/>
    <p:sldId id="274" r:id="rId17"/>
    <p:sldId id="266" r:id="rId18"/>
    <p:sldId id="278" r:id="rId19"/>
    <p:sldId id="268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8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9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3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117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274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29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3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5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5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3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4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5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69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0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1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2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8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4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6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4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3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1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2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3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75882892_Blockchain_Based_Property_Deeds_Repository_System?utm_source=chatgpt.com" TargetMode="External"/><Relationship Id="rId3" Type="http://schemas.openxmlformats.org/officeDocument/2006/relationships/hyperlink" Target="https://www.computer.org/csdl/proceedings-article/ciisca/2023/397200a194/1U1rXSGFxQc" TargetMode="External"/><Relationship Id="rId7" Type="http://schemas.openxmlformats.org/officeDocument/2006/relationships/hyperlink" Target="https://www.grafiati.com/en/literature-selections/land-registra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4.13512" TargetMode="External"/><Relationship Id="rId5" Type="http://schemas.openxmlformats.org/officeDocument/2006/relationships/hyperlink" Target="https://ijisae.org/index.php/IJISAE/article/view/6913" TargetMode="External"/><Relationship Id="rId4" Type="http://schemas.openxmlformats.org/officeDocument/2006/relationships/hyperlink" Target="https://www.jetir.org/papers/JETIR2106234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498730" TargetMode="External"/><Relationship Id="rId2" Type="http://schemas.openxmlformats.org/officeDocument/2006/relationships/hyperlink" Target="https://ieeexplore.ieee.org/document/86793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8636509" TargetMode="External"/><Relationship Id="rId5" Type="http://schemas.openxmlformats.org/officeDocument/2006/relationships/hyperlink" Target="https://ieeexplore.ieee.org/document/9754134" TargetMode="External"/><Relationship Id="rId4" Type="http://schemas.openxmlformats.org/officeDocument/2006/relationships/hyperlink" Target="https://ieeexplore.ieee.org/document/9225435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Blockchain-Based Land Registration System</a:t>
            </a: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20221CBC(</a:t>
            </a:r>
            <a: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CBC_3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48588" name="Google Shape;90;p13"/>
          <p:cNvSpPr txBox="1"/>
          <p:nvPr/>
        </p:nvSpPr>
        <p:spPr>
          <a:xfrm>
            <a:off x="6353818" y="250889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r>
              <a:rPr lang="en-IN" sz="1800" dirty="0"/>
              <a:t> Dr. Akshatha 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dirty="0"/>
              <a:t>Dr. Akshatha Y</a:t>
            </a: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4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Pravinthraja S</a:t>
            </a:r>
            <a:endParaRPr lang="en-US" sz="18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H M Manjula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,Dr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5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444286"/>
              </p:ext>
            </p:extLst>
          </p:nvPr>
        </p:nvGraphicFramePr>
        <p:xfrm>
          <a:off x="999490" y="2802890"/>
          <a:ext cx="343154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Roll 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Student Name</a:t>
                      </a:r>
                      <a:endParaRPr sz="14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Varsha 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Sandya KJ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C.Lokesh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PSCS_4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Organization:: 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 :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land registration systems are prone to fraud, delays, and lack of transparency.Manual record-keeping leads to disputes and high verification time. Need for a tamper-proof, transparent, and efficient solution.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3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30301"/>
            <a:ext cx="10668000" cy="426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Challenges &amp;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86080" y="830580"/>
            <a:ext cx="10937875" cy="455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:</a:t>
            </a:r>
            <a:r>
              <a:rPr lang="en-US" sz="3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land registration systems are prone to fraud, delays, and lack of transparency. Manual record-keeping leads to disputes and high verification time.Need for a tamper-proof, transparent, and efficient solution.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3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solution is needed to: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Blockchain-Based Land Registry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Contracts for Transactions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Decentralized Access &amp; Transparency</a:t>
            </a:r>
            <a:endParaRPr lang="en-US" altLang="en-US" sz="33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AE7B76-6270-6608-932C-714E88C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3775E-8F89-EE6C-0216-7A743731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587" y="983227"/>
            <a:ext cx="10753213" cy="5152102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Legally Enforceable Land Transactions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 &amp; Secure Access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Polygon-Based Boundary Verification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Buyer–Seller Workflow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Auditable Transactions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Interoperability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A10-682F-1FED-4B25-555D5D653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16" y="0"/>
            <a:ext cx="10668000" cy="904567"/>
          </a:xfrm>
        </p:spPr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D964C7-AD2E-086F-BB5E-35C98F9F0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758129"/>
              </p:ext>
            </p:extLst>
          </p:nvPr>
        </p:nvGraphicFramePr>
        <p:xfrm>
          <a:off x="665316" y="1005840"/>
          <a:ext cx="11364126" cy="490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021">
                  <a:extLst>
                    <a:ext uri="{9D8B030D-6E8A-4147-A177-3AD203B41FA5}">
                      <a16:colId xmlns:a16="http://schemas.microsoft.com/office/drawing/2014/main" val="583095562"/>
                    </a:ext>
                  </a:extLst>
                </a:gridCol>
                <a:gridCol w="1894021">
                  <a:extLst>
                    <a:ext uri="{9D8B030D-6E8A-4147-A177-3AD203B41FA5}">
                      <a16:colId xmlns:a16="http://schemas.microsoft.com/office/drawing/2014/main" val="791517331"/>
                    </a:ext>
                  </a:extLst>
                </a:gridCol>
                <a:gridCol w="1894021">
                  <a:extLst>
                    <a:ext uri="{9D8B030D-6E8A-4147-A177-3AD203B41FA5}">
                      <a16:colId xmlns:a16="http://schemas.microsoft.com/office/drawing/2014/main" val="3001828202"/>
                    </a:ext>
                  </a:extLst>
                </a:gridCol>
                <a:gridCol w="1894021">
                  <a:extLst>
                    <a:ext uri="{9D8B030D-6E8A-4147-A177-3AD203B41FA5}">
                      <a16:colId xmlns:a16="http://schemas.microsoft.com/office/drawing/2014/main" val="4165764446"/>
                    </a:ext>
                  </a:extLst>
                </a:gridCol>
                <a:gridCol w="1894021">
                  <a:extLst>
                    <a:ext uri="{9D8B030D-6E8A-4147-A177-3AD203B41FA5}">
                      <a16:colId xmlns:a16="http://schemas.microsoft.com/office/drawing/2014/main" val="1057797467"/>
                    </a:ext>
                  </a:extLst>
                </a:gridCol>
                <a:gridCol w="1894021">
                  <a:extLst>
                    <a:ext uri="{9D8B030D-6E8A-4147-A177-3AD203B41FA5}">
                      <a16:colId xmlns:a16="http://schemas.microsoft.com/office/drawing/2014/main" val="368596807"/>
                    </a:ext>
                  </a:extLst>
                </a:gridCol>
              </a:tblGrid>
              <a:tr h="578226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405668"/>
                  </a:ext>
                </a:extLst>
              </a:tr>
              <a:tr h="1082264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Practically of Blockchain in Land Registration</a:t>
                      </a:r>
                    </a:p>
                    <a:p>
                      <a:r>
                        <a:rPr lang="en-IN" dirty="0"/>
                        <a:t>(Namibia)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P.Paavo,R.Rodriquez,U.Chigbu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IEEE/MDPI Conference(Land Governance)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Case study proving governance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Still early adoption oracle/Boundary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422954"/>
                  </a:ext>
                </a:extLst>
              </a:tr>
              <a:tr h="108226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Based Property Deeds Repository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R.C.Suganthe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IEEE ICCCNT(IIT Delhi)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Ethereum-based deeds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Prototype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910894"/>
                  </a:ext>
                </a:extLst>
              </a:tr>
              <a:tr h="108226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Registration System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S.Kumar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ICAC3N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contracts for ownership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integrated with legal overrides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4838"/>
                  </a:ext>
                </a:extLst>
              </a:tr>
              <a:tr h="1082264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Land Registration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S.Rakesh,N.Gargi,P.Hemavathi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CIISCA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Transparent &amp; tamper-prof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765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32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3941-55CA-4C68-22B0-1F9A7B8C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(continuation)..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F1E5C8-988D-9E03-CD09-D6A6CBF1E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525926"/>
              </p:ext>
            </p:extLst>
          </p:nvPr>
        </p:nvGraphicFramePr>
        <p:xfrm>
          <a:off x="812800" y="1007534"/>
          <a:ext cx="10759439" cy="5032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964">
                  <a:extLst>
                    <a:ext uri="{9D8B030D-6E8A-4147-A177-3AD203B41FA5}">
                      <a16:colId xmlns:a16="http://schemas.microsoft.com/office/drawing/2014/main" val="3970849176"/>
                    </a:ext>
                  </a:extLst>
                </a:gridCol>
                <a:gridCol w="2007201">
                  <a:extLst>
                    <a:ext uri="{9D8B030D-6E8A-4147-A177-3AD203B41FA5}">
                      <a16:colId xmlns:a16="http://schemas.microsoft.com/office/drawing/2014/main" val="4261580119"/>
                    </a:ext>
                  </a:extLst>
                </a:gridCol>
                <a:gridCol w="1670969">
                  <a:extLst>
                    <a:ext uri="{9D8B030D-6E8A-4147-A177-3AD203B41FA5}">
                      <a16:colId xmlns:a16="http://schemas.microsoft.com/office/drawing/2014/main" val="1751055028"/>
                    </a:ext>
                  </a:extLst>
                </a:gridCol>
                <a:gridCol w="1742291">
                  <a:extLst>
                    <a:ext uri="{9D8B030D-6E8A-4147-A177-3AD203B41FA5}">
                      <a16:colId xmlns:a16="http://schemas.microsoft.com/office/drawing/2014/main" val="259742176"/>
                    </a:ext>
                  </a:extLst>
                </a:gridCol>
                <a:gridCol w="1640403">
                  <a:extLst>
                    <a:ext uri="{9D8B030D-6E8A-4147-A177-3AD203B41FA5}">
                      <a16:colId xmlns:a16="http://schemas.microsoft.com/office/drawing/2014/main" val="3737531000"/>
                    </a:ext>
                  </a:extLst>
                </a:gridCol>
                <a:gridCol w="1813611">
                  <a:extLst>
                    <a:ext uri="{9D8B030D-6E8A-4147-A177-3AD203B41FA5}">
                      <a16:colId xmlns:a16="http://schemas.microsoft.com/office/drawing/2014/main" val="1698015734"/>
                    </a:ext>
                  </a:extLst>
                </a:gridCol>
              </a:tblGrid>
              <a:tr h="811738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660570"/>
                  </a:ext>
                </a:extLst>
              </a:tr>
              <a:tr h="1311267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Secure Land Record Management System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M.S.Shahariar,</a:t>
                      </a:r>
                    </a:p>
                    <a:p>
                      <a:r>
                        <a:rPr lang="en-IN" dirty="0"/>
                        <a:t>P.Banik,</a:t>
                      </a:r>
                    </a:p>
                    <a:p>
                      <a:r>
                        <a:rPr lang="en-IN" dirty="0"/>
                        <a:t>M.A.Habib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ICCIT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StrongKYC+hash-based verification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Court/legal modules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2636"/>
                  </a:ext>
                </a:extLst>
              </a:tr>
              <a:tr h="1302346"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 Defination for Land Registry in Blockchain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A.Sahai,R.Pandey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CSNT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Contract modelling for land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Does not address KYC/privacy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01517"/>
                  </a:ext>
                </a:extLst>
              </a:tr>
              <a:tr h="1302346"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Digitalization of Land Records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S.Mishra,A.Sahoo,</a:t>
                      </a:r>
                    </a:p>
                    <a:p>
                      <a:r>
                        <a:rPr lang="en-IN" dirty="0"/>
                        <a:t>M.V.Anand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conference Proceeding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Blockchain-backend record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GIS/cadastral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65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44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41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581025" y="1168400"/>
            <a:ext cx="10899775" cy="4622800"/>
          </a:xfrm>
        </p:spPr>
        <p:txBody>
          <a:bodyPr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21A8F-EF85-7BE3-919B-D5D6FF53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066800"/>
            <a:ext cx="11227517" cy="5269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7B97-9DFE-F7C8-B5CD-A7634411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Algorithm Details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247C67-5904-C2EB-7232-AB7DFE3AB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31401"/>
              </p:ext>
            </p:extLst>
          </p:nvPr>
        </p:nvGraphicFramePr>
        <p:xfrm>
          <a:off x="812799" y="963561"/>
          <a:ext cx="10668000" cy="5293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7564759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83837210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75058751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1023102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108894986"/>
                    </a:ext>
                  </a:extLst>
                </a:gridCol>
              </a:tblGrid>
              <a:tr h="639097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 in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Optimizations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Pseudo-code / Flowchart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908080"/>
                  </a:ext>
                </a:extLst>
              </a:tr>
              <a:tr h="1270820">
                <a:tc>
                  <a:txBody>
                    <a:bodyPr/>
                    <a:lstStyle/>
                    <a:p>
                      <a:r>
                        <a:rPr lang="en-IN" dirty="0"/>
                        <a:t>SHA-256 / Keccak-256 (Hashing)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Generate tamper-proof hashes for Aadhaar, PAN, KYC docs, land polygon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Converts input (document/polygon) into a unique 256-bit hash. Used both in backend (Python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hashlib</a:t>
                      </a:r>
                      <a:r>
                        <a:rPr lang="en-US" dirty="0"/>
                        <a:t>) and in Ethereum (Keccak-256). Prevents data alteration.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</a:t>
                      </a:r>
                      <a:r>
                        <a:rPr lang="en-US" b="1" dirty="0"/>
                        <a:t>only hashes</a:t>
                      </a:r>
                      <a:r>
                        <a:rPr lang="en-US" dirty="0"/>
                        <a:t> on-chain (lightweight) while keeping actual files in backend/IPFS → reduces gas cost &amp; blockchain size.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Pseudo-code</a:t>
                      </a:r>
                      <a:r>
                        <a:rPr lang="en-IN" dirty="0"/>
                        <a:t>:</a:t>
                      </a:r>
                      <a:br>
                        <a:rPr lang="en-IN" dirty="0"/>
                      </a:b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\nfunction sha256(data):\n return hash(data)\n</a:t>
                      </a:r>
                      <a:br>
                        <a:rPr lang="en-IN" dirty="0"/>
                      </a:br>
                      <a:r>
                        <a:rPr lang="en-IN" b="1" dirty="0"/>
                        <a:t>Flow</a:t>
                      </a:r>
                      <a:r>
                        <a:rPr lang="en-IN" dirty="0"/>
                        <a:t>: Input → SHA-256 → Fixed-length Hash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1275"/>
                  </a:ext>
                </a:extLst>
              </a:tr>
              <a:tr h="1270820">
                <a:tc>
                  <a:txBody>
                    <a:bodyPr/>
                    <a:lstStyle/>
                    <a:p>
                      <a:r>
                        <a:rPr lang="en-IN" dirty="0"/>
                        <a:t>ECDSA (Elliptic Curve Digital Signature Algorithm)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Secure signing of blockchain transactions (register land, transfer ownership, payments)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authenticity – only the private key holder can initiate a land registration/transfer. Uses Ethereum’s secp256k1 curve.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MetaMask ensures </a:t>
                      </a:r>
                      <a:r>
                        <a:rPr lang="en-US" b="1" dirty="0"/>
                        <a:t>off-chain signing</a:t>
                      </a:r>
                      <a:r>
                        <a:rPr lang="en-US" dirty="0"/>
                        <a:t> before broadcasting tx → prevents key exposure in backend.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Pseudo-code</a:t>
                      </a:r>
                      <a:r>
                        <a:rPr lang="en-IN" dirty="0"/>
                        <a:t>:</a:t>
                      </a:r>
                      <a:br>
                        <a:rPr lang="en-IN" dirty="0"/>
                      </a:b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\nsignature = sign(tx_hash, private_key)\nverify(signature, public_key)\n</a:t>
                      </a:r>
                      <a:br>
                        <a:rPr lang="en-IN" dirty="0"/>
                      </a:br>
                      <a:r>
                        <a:rPr lang="en-IN" b="1" dirty="0"/>
                        <a:t>Flow</a:t>
                      </a:r>
                      <a:r>
                        <a:rPr lang="en-IN" dirty="0"/>
                        <a:t>: Tx Data → Hash → Sign (PrivKey) → Verify (PubKey)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3832"/>
                  </a:ext>
                </a:extLst>
              </a:tr>
              <a:tr h="1270820">
                <a:tc>
                  <a:txBody>
                    <a:bodyPr/>
                    <a:lstStyle/>
                    <a:p>
                      <a:r>
                        <a:rPr lang="en-IN" dirty="0"/>
                        <a:t>Consensus (</a:t>
                      </a:r>
                      <a:r>
                        <a:rPr lang="en-IN" dirty="0" err="1"/>
                        <a:t>PoA</a:t>
                      </a:r>
                      <a:r>
                        <a:rPr lang="en-IN" dirty="0"/>
                        <a:t>/</a:t>
                      </a:r>
                      <a:r>
                        <a:rPr lang="en-IN" dirty="0" err="1"/>
                        <a:t>PoS</a:t>
                      </a:r>
                      <a:r>
                        <a:rPr lang="en-IN" dirty="0"/>
                        <a:t> in Ethereum)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only valid blocks are added, preventing double-selling of land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Ethereum consensus validates all smart contract calls (register, pay, transfer).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</a:t>
                      </a:r>
                      <a:r>
                        <a:rPr lang="en-US" b="1" dirty="0"/>
                        <a:t>testnets/PoA private chains</a:t>
                      </a:r>
                      <a:r>
                        <a:rPr lang="en-US" dirty="0"/>
                        <a:t> reduces gas &amp; latency vs. Proof-of-Work.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Flowchart</a:t>
                      </a:r>
                      <a:r>
                        <a:rPr lang="en-IN" dirty="0"/>
                        <a:t>: Tx Submitted → Validators Verify → Block Created → Finalized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38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C938-5E00-A6D6-1E43-C4B5B9DB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Details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(continuation)..</a:t>
            </a:r>
            <a:r>
              <a:rPr lang="en-IN" dirty="0"/>
              <a:t>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48FD1D-72C3-54E1-6C26-9E698D25A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946756"/>
              </p:ext>
            </p:extLst>
          </p:nvPr>
        </p:nvGraphicFramePr>
        <p:xfrm>
          <a:off x="812800" y="1032387"/>
          <a:ext cx="10668000" cy="4939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91205803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54429484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65087931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3709051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954174719"/>
                    </a:ext>
                  </a:extLst>
                </a:gridCol>
              </a:tblGrid>
              <a:tr h="757084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 in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Optimizations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Pseudo-code / Flowchart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364167"/>
                  </a:ext>
                </a:extLst>
              </a:tr>
              <a:tr h="1298648">
                <a:tc>
                  <a:txBody>
                    <a:bodyPr/>
                    <a:lstStyle/>
                    <a:p>
                      <a:r>
                        <a:rPr lang="en-IN" dirty="0"/>
                        <a:t>Merkle Tree (Hash Tree)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internally in Ethereum to verify inclusion of transactions in blocks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block contains a Merkle Root; ensures land transaction can be verified without entire block download.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Efficient </a:t>
                      </a:r>
                      <a:r>
                        <a:rPr lang="en-US" b="1" dirty="0"/>
                        <a:t>log(n) verification</a:t>
                      </a:r>
                      <a:r>
                        <a:rPr lang="en-US" dirty="0"/>
                        <a:t> instead of scanning full block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Flow</a:t>
                      </a:r>
                      <a:r>
                        <a:rPr lang="en-IN" dirty="0"/>
                        <a:t>: Tx Hashes → Pairwise Hash → Merkle Root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470146"/>
                  </a:ext>
                </a:extLst>
              </a:tr>
              <a:tr h="1298648">
                <a:tc>
                  <a:txBody>
                    <a:bodyPr/>
                    <a:lstStyle/>
                    <a:p>
                      <a:r>
                        <a:rPr lang="en-IN" dirty="0"/>
                        <a:t>Elliptic Curve Cryptography (ECC)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wallet addresses &amp; key pairs (public/private)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Ethereum user (Buyer/Seller/Admin) has a unique wallet derived via ECC.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ECC provides same security as RSA but with smaller key size → faster.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Pseudo-code</a:t>
                      </a:r>
                      <a:r>
                        <a:rPr lang="en-US" dirty="0"/>
                        <a:t>:</a:t>
                      </a:r>
                      <a:br>
                        <a:rPr lang="en-US" dirty="0"/>
                      </a:b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\nprivate_key = random()\npublic_key = private_key * G\naddress = keccak256(public_key)\n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294283"/>
                  </a:ext>
                </a:extLst>
              </a:tr>
              <a:tr h="1298648">
                <a:tc>
                  <a:txBody>
                    <a:bodyPr/>
                    <a:lstStyle/>
                    <a:p>
                      <a:r>
                        <a:rPr lang="en-IN" dirty="0"/>
                        <a:t>AES (Optional – Encryption)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secure storage of Aadhaar/PAN before uploading to IPFS/backend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Encrypts documents locally, ensuring even backend can’t read raw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Encrypts documents locally, ensuring even backend can’t read raw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Flowchart</a:t>
                      </a:r>
                      <a:r>
                        <a:rPr lang="en-US" dirty="0"/>
                        <a:t>: File → AES Encrypt → IPFS Upload; Decrypt only with key.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5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34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BC9B-CFDA-1BA3-B4BC-8C70C8B8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F89CC-E464-CDFB-AC3F-C67A1B585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 security &amp; transparency.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Reduced fraud &amp; paperwork.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Immutable transaction history.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24/7 accessibility from anywhere.</a:t>
            </a:r>
            <a:endParaRPr lang="en-IN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0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0D46-5267-4672-71F6-C280E715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Challenges &amp; Solutions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26089E-1E06-549F-98CA-496ADE32C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79137"/>
              </p:ext>
            </p:extLst>
          </p:nvPr>
        </p:nvGraphicFramePr>
        <p:xfrm>
          <a:off x="904568" y="1042491"/>
          <a:ext cx="10576232" cy="4955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8671">
                  <a:extLst>
                    <a:ext uri="{9D8B030D-6E8A-4147-A177-3AD203B41FA5}">
                      <a16:colId xmlns:a16="http://schemas.microsoft.com/office/drawing/2014/main" val="2673814993"/>
                    </a:ext>
                  </a:extLst>
                </a:gridCol>
                <a:gridCol w="7567561">
                  <a:extLst>
                    <a:ext uri="{9D8B030D-6E8A-4147-A177-3AD203B41FA5}">
                      <a16:colId xmlns:a16="http://schemas.microsoft.com/office/drawing/2014/main" val="3656925331"/>
                    </a:ext>
                  </a:extLst>
                </a:gridCol>
              </a:tblGrid>
              <a:tr h="699556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099346"/>
                  </a:ext>
                </a:extLst>
              </a:tr>
              <a:tr h="851126">
                <a:tc>
                  <a:txBody>
                    <a:bodyPr/>
                    <a:lstStyle/>
                    <a:p>
                      <a:r>
                        <a:rPr lang="en-IN" dirty="0"/>
                        <a:t>High Gas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private blockchain(permissioned Ethereum/Hyperledger) or Layer-2 scaling solutions</a:t>
                      </a:r>
                    </a:p>
                    <a:p>
                      <a:r>
                        <a:rPr lang="en-IN" dirty="0"/>
                        <a:t>(Polygon , optimism) to reduce transaction costs.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992305"/>
                  </a:ext>
                </a:extLst>
              </a:tr>
              <a:tr h="851126">
                <a:tc>
                  <a:txBody>
                    <a:bodyPr/>
                    <a:lstStyle/>
                    <a:p>
                      <a:r>
                        <a:rPr lang="en-IN" dirty="0"/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 training sessions , awareness workshops, and design an easy-to-use Web/mobile  UI</a:t>
                      </a:r>
                    </a:p>
                    <a:p>
                      <a:r>
                        <a:rPr lang="en-IN" dirty="0"/>
                        <a:t>With local language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275631"/>
                  </a:ext>
                </a:extLst>
              </a:tr>
              <a:tr h="851126">
                <a:tc>
                  <a:txBody>
                    <a:bodyPr/>
                    <a:lstStyle/>
                    <a:p>
                      <a:r>
                        <a:rPr lang="en-IN" dirty="0"/>
                        <a:t>Large File Storage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only Hashes (SHA-256/IPFS CID) on blockchain and keep actual files (KYC docs , cadastral maps, images) in IPES/cloud storage.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92041"/>
                  </a:ext>
                </a:extLst>
              </a:tr>
              <a:tr h="851126">
                <a:tc>
                  <a:txBody>
                    <a:bodyPr/>
                    <a:lstStyle/>
                    <a:p>
                      <a:r>
                        <a:rPr lang="en-IN" dirty="0"/>
                        <a:t>Legal Enforceability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Introduce a Court Order Module allowing authorized government officers to override or correct records while preserving audit trails.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18798"/>
                  </a:ext>
                </a:extLst>
              </a:tr>
              <a:tr h="851126">
                <a:tc>
                  <a:txBody>
                    <a:bodyPr/>
                    <a:lstStyle/>
                    <a:p>
                      <a:r>
                        <a:rPr lang="en-IN" dirty="0"/>
                        <a:t>Boundary Verification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Google Maps API &amp; Polygon Hashing for cadastral boundary verification before transfers.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230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21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27C8-FDBA-7264-AD53-D284C3F1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Solutions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(continuation)..</a:t>
            </a:r>
            <a:r>
              <a:rPr lang="en-IN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CD62BC-1E0B-94BB-4CBE-90429E6DE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13394"/>
              </p:ext>
            </p:extLst>
          </p:nvPr>
        </p:nvGraphicFramePr>
        <p:xfrm>
          <a:off x="914400" y="1152283"/>
          <a:ext cx="10566400" cy="3064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0">
                  <a:extLst>
                    <a:ext uri="{9D8B030D-6E8A-4147-A177-3AD203B41FA5}">
                      <a16:colId xmlns:a16="http://schemas.microsoft.com/office/drawing/2014/main" val="4188523981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1881459165"/>
                    </a:ext>
                  </a:extLst>
                </a:gridCol>
              </a:tblGrid>
              <a:tr h="60769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15797"/>
                  </a:ext>
                </a:extLst>
              </a:tr>
              <a:tr h="1228396">
                <a:tc>
                  <a:txBody>
                    <a:bodyPr/>
                    <a:lstStyle/>
                    <a:p>
                      <a:r>
                        <a:rPr lang="en-IN" dirty="0"/>
                        <a:t>Privacy of Owner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Implement Selective Disclosure Proofs and encrypt sensitive KYC details off-chain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19779"/>
                  </a:ext>
                </a:extLst>
              </a:tr>
              <a:tr h="1228396">
                <a:tc>
                  <a:txBody>
                    <a:bodyPr/>
                    <a:lstStyle/>
                    <a:p>
                      <a:r>
                        <a:rPr lang="en-IN" dirty="0"/>
                        <a:t>Interoperability with Govt .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Build adapters to connect blockchain registry with tax APIs. E-stamp , and land ceiling compliance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118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888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048617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9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https://github.com/Sandyakj48/Capstone_PSCS_611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B88E-7453-DC9F-5EED-DD5D75C7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610C8-944A-8A2B-A93C-2B0236E8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integrate with government databases for real-world adoption.</a:t>
            </a: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Potential to expand into multi-country land management systems.</a:t>
            </a: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integration with AI for fraud detection.</a:t>
            </a:r>
            <a:endParaRPr lang="en-IN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5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3FA8-8482-C4CD-5C94-319DA068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</a:t>
            </a:r>
            <a:endParaRPr lang="en-IN" dirty="0"/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BA25F9A0-532C-7CD5-B1B6-88EDCB15794B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9" name="Picture 8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141A4642-1E70-8C17-2620-3FBD3B7D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2109"/>
            <a:ext cx="10830559" cy="503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1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1" name="Google Shape;145;p22"/>
          <p:cNvSpPr txBox="1">
            <a:spLocks noGrp="1"/>
          </p:cNvSpPr>
          <p:nvPr>
            <p:ph type="body" idx="1"/>
          </p:nvPr>
        </p:nvSpPr>
        <p:spPr>
          <a:xfrm>
            <a:off x="727587" y="943897"/>
            <a:ext cx="10753213" cy="5152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Rakesh, N. Gargi, and P. Hemavathi, “Smart Land Registration Using Blockchain,”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2023 Int. Conf. on Computational Intelligence for Information, Security and Communication Applications (CIISCA)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2023, pp. 194–199.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https://www.computer.org/csdl/proceedings-article/ciisca/2023/397200a194/1U1rXSGFxQc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IN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Sahai and R. Pandey, “Smart Contract Definition for Land Registry in Blockchain,”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2020 IEEE 9th Int. Conf. on Communication Systems and Network Technologies (CSNT)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2020, pp. 191–196.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https://www.jetir.org/papers/JETIR2106234.pdf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IN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Mishra, A. Sahoo, and M. V. Anand, “Digitalization of Land Records using Blockchain Technology,”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2021 IEEE Conf. on Innovations in Information Systems and Advanced Engineering (IJISAE)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2021. [Online]. Available: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https://ijisae.org/index.php/IJISAE/article/view/6913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S. Shahariar, P. Banik, and M. A. Habib, “A Secure Land Record Management System using Blockchain Technology,”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on Computer and Information Technology (ICCIT)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2022.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https://arxiv.org/abs/2304.13512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IN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Kumar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“Land Registration System using Blockchain,”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2023 5th Int. Conf. on Advances in Computing, Communication, Control and Networking (ICAC3N)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2023. [Online]. Available: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https://www.grafiati.com/en/literature-selections/land-registration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C. Suganthe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“Blockchain Based Property Deeds Repository System,”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14th Int. Conf. on Computing, Communication and Networking Technologies (ICCCNT)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2023. [Online]. Available: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https://www.researchgate.net/publication/375882892_Blockchain_Based_Property_Deeds_Repository_System</a:t>
            </a:r>
            <a:endParaRPr lang="en-IN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1172-EB61-756E-15EC-3A31E69C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12AA-D5C9-66C5-3EA3-12329413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N. Uddin, M. R. Islam, and M. S. Hossain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“Blockchain Based Land Registration System for Bangladesh,”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2019 Int. Conf. on Electrical, Computer and Communication Engineering (ECCE)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2019, pp. 1–6.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https://ieeexplore.ieee.org/document/8679305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Sharma, V. Bansal, and R. Mahajan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“Blockchain based Secure Land Registry System,”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2021 5th Int. Conf. on Intelligent Computing and Control Systems (ICICCS)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2021, pp. 1605–1610.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https://ieeexplore.ieee.org/document/9498730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K. Gupta and P. Agarwal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“Land Record Management Using Blockchain Technology,”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2020 11th Int. Conf. on Computing, Communication and Networking Technologies (ICCCNT)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2020, pp. 1–7. [Online]. Available: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https://ieeexplore.ieee.org/document/9225435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Bhosale and V. R. Pawar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“Blockchain Based Land Registration and Property Transfer System,” in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2022 Int. Conf. on Computing, Communication, and Intelligent Systems (ICCCIS)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2022, pp. 453–458. [Online]. Available: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https://ieeexplore.ieee.org/document/9754134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K. Sharma, J. H. Park, and S. Rathore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“Efficient Management of Land Records Using Blockchain in Smart Cities,”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114–124, 2019. [Online]. Available: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https://ieeexplore.ieee.org/document/8636509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51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0*77"/>
  <p:tag name="TABLE_ENDDRAG_RECT" val="78*220*270*77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1935</Words>
  <Application>Microsoft Office PowerPoint</Application>
  <PresentationFormat>Widescreen</PresentationFormat>
  <Paragraphs>223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Cambria</vt:lpstr>
      <vt:lpstr>Times New Roman</vt:lpstr>
      <vt:lpstr>Verdana</vt:lpstr>
      <vt:lpstr>Wingdings</vt:lpstr>
      <vt:lpstr>Bioinformatics</vt:lpstr>
      <vt:lpstr>Blockchain-Based Land Registration System</vt:lpstr>
      <vt:lpstr>Problem Statement Number: PSCS_4</vt:lpstr>
      <vt:lpstr>Content</vt:lpstr>
      <vt:lpstr>Content (continuation)..</vt:lpstr>
      <vt:lpstr>Objectives</vt:lpstr>
      <vt:lpstr>Literature Survey</vt:lpstr>
      <vt:lpstr>Literature Survey (continuation)..</vt:lpstr>
      <vt:lpstr>System Architecture</vt:lpstr>
      <vt:lpstr> Algorithm Details</vt:lpstr>
      <vt:lpstr>Algorithm Details (continuation)..  </vt:lpstr>
      <vt:lpstr> Advantages</vt:lpstr>
      <vt:lpstr> Challenges &amp; Solutions</vt:lpstr>
      <vt:lpstr>Challenges &amp; Solutions (continuation).. </vt:lpstr>
      <vt:lpstr>Github Link</vt:lpstr>
      <vt:lpstr> Conclusion &amp; Future Scope</vt:lpstr>
      <vt:lpstr>Timeline of the Project 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PSCS_4_Use of Digital Technology to calculate water footprints  for different daily use items.</dc:title>
  <dc:creator>Admin</dc:creator>
  <cp:lastModifiedBy>Sandya KJ</cp:lastModifiedBy>
  <cp:revision>26</cp:revision>
  <dcterms:created xsi:type="dcterms:W3CDTF">2025-08-12T07:29:00Z</dcterms:created>
  <dcterms:modified xsi:type="dcterms:W3CDTF">2025-09-26T03:11:35Z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6CAFFFC2E1F94C69A08021CFDD40ECF7_13</vt:lpwstr>
  </property>
  <property fmtid="{D5CDD505-2E9C-101B-9397-08002B2CF9AE}" pid="3" name="KSOProductBuildVer">
    <vt:lpwstr>1033-12.2.0.21931</vt:lpwstr>
  </property>
</Properties>
</file>